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D87537"/>
          </a:solidFill>
          <a:ln w="12700">
            <a:solidFill>
              <a:srgbClr val="D875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150" kern="0" dirty="0">
                <a:solidFill>
                  <a:srgbClr val="A8CB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•  ASSIGNMENT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261872"/>
            <a:ext cx="10607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model accuracy</a:t>
            </a:r>
            <a:endParaRPr lang="en-US" sz="4300" dirty="0"/>
          </a:p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species coverage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68096" y="3008376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4E5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FrogID contextual species ranking under geographic validation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8096" y="4005072"/>
            <a:ext cx="10661904" cy="0"/>
          </a:xfrm>
          <a:prstGeom prst="line">
            <a:avLst/>
          </a:prstGeom>
          <a:noFill/>
          <a:ln w="12700">
            <a:solidFill>
              <a:srgbClr val="537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52544"/>
            <a:ext cx="3154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822960" y="5175504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CD1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species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07992" y="4352544"/>
            <a:ext cx="3154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2A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242,600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4507992" y="5175504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CD1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complete-case events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93024" y="4352544"/>
            <a:ext cx="3154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8193024" y="5175504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CD1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families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64190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FC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W11G03  •  University of Sydney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&amp;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shortlist, not an acoustic classifier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" y="1508760"/>
            <a:ext cx="3474720" cy="3502152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508760"/>
            <a:ext cx="59436" cy="350215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73352"/>
            <a:ext cx="3072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6384" y="2167128"/>
            <a:ext cx="30540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timing, environmental conditions, elevation and—when using M4—latitude/longitude.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43400" y="1508760"/>
            <a:ext cx="3474720" cy="3502152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08760"/>
            <a:ext cx="59436" cy="3502152"/>
          </a:xfrm>
          <a:prstGeom prst="rect">
            <a:avLst/>
          </a:prstGeom>
          <a:solidFill>
            <a:srgbClr val="D87537"/>
          </a:solidFill>
          <a:ln w="12700">
            <a:solidFill>
              <a:srgbClr val="D875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1673352"/>
            <a:ext cx="3072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44568" y="2167128"/>
            <a:ext cx="30540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ordered shortlist of 18 frog species. Correct rank matters, not just the first guess.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19872" y="1508760"/>
            <a:ext cx="3474720" cy="3502152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1508760"/>
            <a:ext cx="59436" cy="3502152"/>
          </a:xfrm>
          <a:prstGeom prst="rect">
            <a:avLst/>
          </a:prstGeom>
          <a:solidFill>
            <a:srgbClr val="5B6F7E"/>
          </a:solidFill>
          <a:ln w="12700">
            <a:solidFill>
              <a:srgbClr val="5B6F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673352"/>
            <a:ext cx="3072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claimed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2167128"/>
            <a:ext cx="30540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frog-call audio analysis; no population abundance, definitive identification or conservation-grade decisions.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5321808"/>
            <a:ext cx="10826496" cy="521208"/>
          </a:xfrm>
          <a:prstGeom prst="roundRect">
            <a:avLst>
              <a:gd name="adj" fmla="val 21053"/>
            </a:avLst>
          </a:prstGeom>
          <a:solidFill>
            <a:srgbClr val="EBF2F8"/>
          </a:solidFill>
          <a:ln w="12700">
            <a:solidFill>
              <a:srgbClr val="EBF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949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question: which model stays useful when geography and species frequency change?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→ METRIC CHOICE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imbalance can conceal missed species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pic>
        <p:nvPicPr>
          <p:cNvPr id="8" name="Image 0" descr="/mnt/data/stat5003_ppt_work/assets/species_frequ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774" y="1344168"/>
            <a:ext cx="7106052" cy="45445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110728" y="1527048"/>
            <a:ext cx="33375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0456" y="1673352"/>
            <a:ext cx="3118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53.4%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0456" y="230428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Recordings from the top two species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8110728" y="3063240"/>
            <a:ext cx="33375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0456" y="3209544"/>
            <a:ext cx="3118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≈41:1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220456" y="384048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versus smallest class frequency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8110728" y="4754880"/>
            <a:ext cx="3337560" cy="1060704"/>
          </a:xfrm>
          <a:prstGeom prst="roundRect">
            <a:avLst>
              <a:gd name="adj" fmla="val 10345"/>
            </a:avLst>
          </a:prstGeom>
          <a:solidFill>
            <a:srgbClr val="EBF2F8"/>
          </a:solidFill>
          <a:ln w="12700">
            <a:solidFill>
              <a:srgbClr val="EBF2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84464" y="4855464"/>
            <a:ext cx="29809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assigns equal weight to all 18 species.</a:t>
            </a:r>
            <a:endParaRPr lang="en-US" sz="1520" dirty="0"/>
          </a:p>
        </p:txBody>
      </p:sp>
      <p:sp>
        <p:nvSpPr>
          <p:cNvPr id="17" name="Text 14"/>
          <p:cNvSpPr/>
          <p:nvPr/>
        </p:nvSpPr>
        <p:spPr>
          <a:xfrm>
            <a:off x="576072" y="61447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accuracy alone would reward majority-species predictions.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→ GEOGRAPHIC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species occupy different places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coarse-footprint panels from the complete 18-species figure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pic>
        <p:nvPicPr>
          <p:cNvPr id="9" name="Image 0" descr="/mnt/data/stat5003_ppt_work/assets/geographic_footprints_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851" y="1353312"/>
            <a:ext cx="4285057" cy="4800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97880" y="1444752"/>
            <a:ext cx="5394960" cy="1380744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97880" y="1444752"/>
            <a:ext cx="59436" cy="1380744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99048" y="1609344"/>
            <a:ext cx="4992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 footprints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99048" y="2103120"/>
            <a:ext cx="4974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recording locations vary sharply between species.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897880" y="3026664"/>
            <a:ext cx="5394960" cy="1380744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97880" y="3026664"/>
            <a:ext cx="59436" cy="1380744"/>
          </a:xfrm>
          <a:prstGeom prst="rect">
            <a:avLst/>
          </a:prstGeom>
          <a:solidFill>
            <a:srgbClr val="D87537"/>
          </a:solidFill>
          <a:ln w="12700">
            <a:solidFill>
              <a:srgbClr val="D875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99048" y="3191256"/>
            <a:ext cx="4992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risk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099048" y="3685032"/>
            <a:ext cx="4974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folds can contain nearby locations on both sides of a split.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897880" y="4599432"/>
            <a:ext cx="5394960" cy="1362456"/>
          </a:xfrm>
          <a:prstGeom prst="roundRect">
            <a:avLst>
              <a:gd name="adj" fmla="val 80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97880" y="4599432"/>
            <a:ext cx="59436" cy="1362456"/>
          </a:xfrm>
          <a:prstGeom prst="rect">
            <a:avLst/>
          </a:prstGeom>
          <a:solidFill>
            <a:srgbClr val="5B6F7E"/>
          </a:solidFill>
          <a:ln w="12700">
            <a:solidFill>
              <a:srgbClr val="5B6F7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99048" y="4764024"/>
            <a:ext cx="4992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099048" y="5257800"/>
            <a:ext cx="4974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citizen-science recording footprints—not true biological ranges.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and spatial tests answer different questions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pic>
        <p:nvPicPr>
          <p:cNvPr id="8" name="Image 0" descr="/mnt/data/stat5003_ppt_work/assets/validation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491" y="1453896"/>
            <a:ext cx="7813106" cy="28163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32688" y="4507992"/>
            <a:ext cx="4910328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4507992"/>
            <a:ext cx="59436" cy="121615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4672584"/>
            <a:ext cx="4507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folds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33856" y="5166360"/>
            <a:ext cx="4489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recordings from familiar sampled areas.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90488" y="4507992"/>
            <a:ext cx="4910328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0488" y="4507992"/>
            <a:ext cx="59436" cy="1216152"/>
          </a:xfrm>
          <a:prstGeom prst="rect">
            <a:avLst/>
          </a:prstGeom>
          <a:solidFill>
            <a:srgbClr val="D87537"/>
          </a:solidFill>
          <a:ln w="12700">
            <a:solidFill>
              <a:srgbClr val="D875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91656" y="4672584"/>
            <a:ext cx="4507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folds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91656" y="5166360"/>
            <a:ext cx="4489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out entire 0.5° cells; ask about unseen cells.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76072" y="61447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frozen outer folds each; inner fit/tune partition matches the outer splitting regime.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progressively tested what information matters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627632"/>
            <a:ext cx="11018520" cy="66751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728216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84248" y="172821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71800" y="172821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Species-prevalence baseline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17282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2404872"/>
            <a:ext cx="11018520" cy="66751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2505456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84248" y="250545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71800" y="250545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Cyclic calendar terms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25054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SCREEN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4360" y="3182112"/>
            <a:ext cx="11018520" cy="66751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3282696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84248" y="328269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971800" y="328269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 + 19 BIO + monthly normals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32826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SCREEN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3959352"/>
            <a:ext cx="11018520" cy="667512"/>
          </a:xfrm>
          <a:prstGeom prst="roundRect">
            <a:avLst>
              <a:gd name="adj" fmla="val 16438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4059936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984248" y="405993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971800" y="405993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 + elevation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1040" y="40599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COMPARISON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94360" y="4736592"/>
            <a:ext cx="11018520" cy="667512"/>
          </a:xfrm>
          <a:prstGeom prst="roundRect">
            <a:avLst>
              <a:gd name="adj" fmla="val 16438"/>
            </a:avLst>
          </a:prstGeom>
          <a:solidFill>
            <a:srgbClr val="EBF2F8"/>
          </a:solidFill>
          <a:ln w="12700">
            <a:solidFill>
              <a:srgbClr val="EBF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4837176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984248" y="483717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971800" y="48371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 + latitude / longitude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21040" y="48371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COMPARISON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77240" y="5742432"/>
            <a:ext cx="10652760" cy="502920"/>
          </a:xfrm>
          <a:prstGeom prst="roundRect">
            <a:avLst>
              <a:gd name="adj" fmla="val 21818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824728"/>
            <a:ext cx="10296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five-family benchmark compares M3 vs M4: what do explicit coordinates add?</a:t>
            </a:r>
            <a:endParaRPr lang="en-US" sz="16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MODELLING &amp; TUNING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model families test different assumptions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" y="14356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4356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INDUCTIVE BIAS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22976" y="143560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CONTROLS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58200" y="143560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MOTIVATION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" y="1856232"/>
            <a:ext cx="1113739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19568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Elastic-net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2743200" y="19568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effects with penalisation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22976" y="1956816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α: 0 / 0.5 / 1; λ: up to 30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58200" y="195681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Correlated climate predictors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" y="2642616"/>
            <a:ext cx="1113739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7432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PCA-LDA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2743200" y="2743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Compressed linear boundaries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22976" y="274320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variance PCs; +2 / +4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58200" y="27432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Covariance stability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" y="3429000"/>
            <a:ext cx="1113739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52958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PCA-kNN</a:t>
            </a:r>
            <a:endParaRPr lang="en-US" sz="1460" dirty="0"/>
          </a:p>
        </p:txBody>
      </p:sp>
      <p:sp>
        <p:nvSpPr>
          <p:cNvPr id="24" name="Text 22"/>
          <p:cNvSpPr/>
          <p:nvPr/>
        </p:nvSpPr>
        <p:spPr>
          <a:xfrm>
            <a:off x="2743200" y="35295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neighbourhood voting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22976" y="3529584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= 7 / 21 / 51; PCs +0 / +2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58200" y="352958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Locality vs smoothing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9496" y="4215384"/>
            <a:ext cx="11137392" cy="658368"/>
          </a:xfrm>
          <a:prstGeom prst="roundRect">
            <a:avLst>
              <a:gd name="adj" fmla="val 16667"/>
            </a:avLst>
          </a:prstGeom>
          <a:solidFill>
            <a:srgbClr val="EBF2F8"/>
          </a:solidFill>
          <a:ln w="12700">
            <a:solidFill>
              <a:srgbClr val="EBF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43159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460" dirty="0"/>
          </a:p>
        </p:txBody>
      </p:sp>
      <p:sp>
        <p:nvSpPr>
          <p:cNvPr id="29" name="Text 27"/>
          <p:cNvSpPr/>
          <p:nvPr/>
        </p:nvSpPr>
        <p:spPr>
          <a:xfrm>
            <a:off x="2743200" y="4315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Bootstrap nonlinear ensemble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22976" y="431596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trees; mtry 5/10; nodes 5/20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58200" y="431596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interactions / sparse classes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9496" y="5001768"/>
            <a:ext cx="11137392" cy="658368"/>
          </a:xfrm>
          <a:prstGeom prst="roundRect">
            <a:avLst>
              <a:gd name="adj" fmla="val 16667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510235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460" dirty="0"/>
          </a:p>
        </p:txBody>
      </p:sp>
      <p:sp>
        <p:nvSpPr>
          <p:cNvPr id="34" name="Text 32"/>
          <p:cNvSpPr/>
          <p:nvPr/>
        </p:nvSpPr>
        <p:spPr>
          <a:xfrm>
            <a:off x="2743200" y="51023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Regularised boosting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22976" y="5102352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3/6; η .07/.15; child 2/8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58200" y="510235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vs overfitting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6072" y="614476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Hyperparameters selected only on inner tuning data; final outer-fold assessment remains held out.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folds are optimistic about geography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pic>
        <p:nvPicPr>
          <p:cNvPr id="8" name="Image 0" descr="/mnt/data/stat5003_ppt_work/assets/m4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296" y="1417320"/>
            <a:ext cx="9113153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" y="5486400"/>
            <a:ext cx="10789920" cy="548640"/>
          </a:xfrm>
          <a:prstGeom prst="roundRect">
            <a:avLst>
              <a:gd name="adj" fmla="val 20000"/>
            </a:avLst>
          </a:prstGeom>
          <a:solidFill>
            <a:srgbClr val="EBF2F8"/>
          </a:solidFill>
          <a:ln w="12700">
            <a:solidFill>
              <a:srgbClr val="EBF2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5577840"/>
            <a:ext cx="10515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RF: 0.692 → 0.349   •   XGBoost: 0.656 → 0.352   (random → spatial Macro-F1)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 VS M4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Coordinates help, but do not remove geographic shift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pic>
        <p:nvPicPr>
          <p:cNvPr id="8" name="Image 0" descr="/mnt/data/stat5003_ppt_work/assets/coordinate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62" y="1453896"/>
            <a:ext cx="10017308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" y="5779008"/>
            <a:ext cx="10616184" cy="429768"/>
          </a:xfrm>
          <a:prstGeom prst="roundRect">
            <a:avLst>
              <a:gd name="adj" fmla="val 25532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824728"/>
            <a:ext cx="1030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Macro-F1 gain: XGBoost +0.025; Random Forest +0.006.</a:t>
            </a:r>
            <a:endParaRPr lang="en-US" sz="1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0.003-point lead is not the whole decision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426464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 spatial assessment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1920240"/>
            <a:ext cx="3493008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157984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MACRO-F1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2834640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47088" y="270662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0.352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914400" y="3611880"/>
            <a:ext cx="3163824" cy="0"/>
          </a:xfrm>
          <a:prstGeom prst="line">
            <a:avLst/>
          </a:prstGeom>
          <a:noFill/>
          <a:ln w="10160">
            <a:solidFill>
              <a:srgbClr val="DD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941064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088" y="377647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0.349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544568" y="1920240"/>
            <a:ext cx="3493008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157984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TOP-1 ACCURACY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27448" y="2834640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41848" y="270662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53.3%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4709160" y="3611880"/>
            <a:ext cx="3163824" cy="0"/>
          </a:xfrm>
          <a:prstGeom prst="line">
            <a:avLst/>
          </a:prstGeom>
          <a:noFill/>
          <a:ln w="10160">
            <a:solidFill>
              <a:srgbClr val="DD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3941064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41848" y="377647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52.5%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8339328" y="1920240"/>
            <a:ext cx="3493008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13064" y="2157984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TOP-3 ACCURACY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22208" y="2834640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36608" y="270662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85.8%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8503920" y="3611880"/>
            <a:ext cx="3163824" cy="0"/>
          </a:xfrm>
          <a:prstGeom prst="line">
            <a:avLst/>
          </a:prstGeom>
          <a:noFill/>
          <a:ln w="10160">
            <a:solidFill>
              <a:srgbClr val="DDE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22208" y="3941064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36608" y="377647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85.5%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768096" y="5285232"/>
            <a:ext cx="10707624" cy="621792"/>
          </a:xfrm>
          <a:prstGeom prst="roundRect">
            <a:avLst>
              <a:gd name="adj" fmla="val 17647"/>
            </a:avLst>
          </a:prstGeom>
          <a:solidFill>
            <a:srgbClr val="EBF2F8"/>
          </a:solidFill>
          <a:ln w="12700">
            <a:solidFill>
              <a:srgbClr val="EBF2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542239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therefore inspected which species each model struggled to recover.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SPECIES-EQUITY AUDIT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better covers less-recorded species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pic>
        <p:nvPicPr>
          <p:cNvPr id="8" name="Image 0" descr="/mnt/data/stat5003_ppt_work/assets/equit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171" y="1444752"/>
            <a:ext cx="5704193" cy="46725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55664" y="1527048"/>
            <a:ext cx="233172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5392" y="1673352"/>
            <a:ext cx="2112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0.401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565392" y="2304288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 rare-six mean recall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8961120" y="1527048"/>
            <a:ext cx="233172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70848" y="1673352"/>
            <a:ext cx="2112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0.365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070848" y="2304288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 rare-six mean recall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6455664" y="3136392"/>
            <a:ext cx="233172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65392" y="3282696"/>
            <a:ext cx="2112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0.775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565392" y="3913632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 rare-six Top-3 recall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8961120" y="3136392"/>
            <a:ext cx="233172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70848" y="3282696"/>
            <a:ext cx="2112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0.740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070848" y="3913632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 rare-six Top-3 recall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6455664" y="4873752"/>
            <a:ext cx="4837176" cy="950976"/>
          </a:xfrm>
          <a:prstGeom prst="roundRect">
            <a:avLst>
              <a:gd name="adj" fmla="val 11538"/>
            </a:avLst>
          </a:prstGeom>
          <a:solidFill>
            <a:srgbClr val="EBF2F8"/>
          </a:solidFill>
          <a:ln w="12700">
            <a:solidFill>
              <a:srgbClr val="EBF2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56832" y="5047488"/>
            <a:ext cx="4443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 improves the coverage floor, but neither model is reliable for every class.</a:t>
            </a:r>
            <a:endParaRPr lang="en-US" sz="15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IMBALANCE SENSITIVITY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Improving Macro-F1 is not a free ranking gain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elastic-net prevalence correction; not oversampling or SMOTE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pic>
        <p:nvPicPr>
          <p:cNvPr id="9" name="Image 0" descr="/mnt/data/stat5003_ppt_work/assets/prior_metric_curv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484" y="1536192"/>
            <a:ext cx="7542784" cy="42428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8952" y="5705856"/>
            <a:ext cx="10707624" cy="466344"/>
          </a:xfrm>
          <a:prstGeom prst="roundRect">
            <a:avLst>
              <a:gd name="adj" fmla="val 23529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5788152"/>
            <a:ext cx="10287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Spatial: Macro-F1 +0.078   •   Top-3 −0.026   •   MRR −0.035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AUDIT MATTERED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trade-off shifts recall across species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pic>
        <p:nvPicPr>
          <p:cNvPr id="8" name="Image 0" descr="/mnt/data/stat5003_ppt_work/assets/prior_tradeoff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152" y="1399032"/>
            <a:ext cx="7786624" cy="43799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8096" y="5751576"/>
            <a:ext cx="10716768" cy="420624"/>
          </a:xfrm>
          <a:prstGeom prst="roundRect">
            <a:avLst>
              <a:gd name="adj" fmla="val 26087"/>
            </a:avLst>
          </a:prstGeom>
          <a:solidFill>
            <a:srgbClr val="EBF2F8"/>
          </a:solidFill>
          <a:ln w="12700">
            <a:solidFill>
              <a:srgbClr val="EBF2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544" y="5788152"/>
            <a:ext cx="10369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from this sensitivity test motivated a later species-level model-selection audit.</a:t>
            </a:r>
            <a:endParaRPr lang="en-US" sz="15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01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D875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&amp; LIMITATIONS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recommendation: Random Forest M4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28248" cy="0"/>
          </a:xfrm>
          <a:prstGeom prst="line">
            <a:avLst/>
          </a:prstGeom>
          <a:noFill/>
          <a:ln w="11430">
            <a:solidFill>
              <a:srgbClr val="DD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510528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STAT5003  /  W11G03     •     Context-based FrogID species ranking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C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22376" y="1536192"/>
            <a:ext cx="6967728" cy="1901952"/>
          </a:xfrm>
          <a:prstGeom prst="roundRect">
            <a:avLst>
              <a:gd name="adj" fmla="val 5769"/>
            </a:avLst>
          </a:prstGeom>
          <a:solidFill>
            <a:srgbClr val="EBF2F8"/>
          </a:solidFill>
          <a:ln w="12700">
            <a:solidFill>
              <a:srgbClr val="EBF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819656"/>
            <a:ext cx="6400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276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996696" y="2688336"/>
            <a:ext cx="63002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for stronger uncommon-species coverage in a near-tie.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2376" y="3675888"/>
            <a:ext cx="3282696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3675888"/>
            <a:ext cx="59436" cy="1517904"/>
          </a:xfrm>
          <a:prstGeom prst="rect">
            <a:avLst/>
          </a:prstGeom>
          <a:solidFill>
            <a:srgbClr val="27679C"/>
          </a:solidFill>
          <a:ln w="12700">
            <a:solidFill>
              <a:srgbClr val="2767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3840480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23544" y="4334256"/>
            <a:ext cx="2862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balanced recovery of the least-recorded species.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87952" y="3675888"/>
            <a:ext cx="347472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87952" y="3675888"/>
            <a:ext cx="59436" cy="1517904"/>
          </a:xfrm>
          <a:prstGeom prst="rect">
            <a:avLst/>
          </a:prstGeom>
          <a:solidFill>
            <a:srgbClr val="D87537"/>
          </a:solidFill>
          <a:ln w="12700">
            <a:solidFill>
              <a:srgbClr val="D875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840480"/>
            <a:ext cx="3072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89120" y="4334256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narrowly leads average spatial Macro-F1.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09560" y="1536192"/>
            <a:ext cx="3538728" cy="36576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09560" y="1536192"/>
            <a:ext cx="59436" cy="3657600"/>
          </a:xfrm>
          <a:prstGeom prst="rect">
            <a:avLst/>
          </a:prstGeom>
          <a:solidFill>
            <a:srgbClr val="5B6F7E"/>
          </a:solidFill>
          <a:ln w="12700">
            <a:solidFill>
              <a:srgbClr val="5B6F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1700784"/>
            <a:ext cx="3136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limits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110728" y="2194560"/>
            <a:ext cx="311810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B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folds do not isolate neighbouring cells. Sparse classes remain weak. The inputs are context—not audio—and cannot justify autonomous conservation decisions.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8096" y="5532120"/>
            <a:ext cx="10680192" cy="502920"/>
          </a:xfrm>
          <a:prstGeom prst="roundRect">
            <a:avLst>
              <a:gd name="adj" fmla="val 21818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596128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evaluate geographic transfer and species-level errors before choosing a model.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University of Sydney | STAT5003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FrogID species ranking: Geographic transfer and species coverage</dc:title>
  <dc:subject>FrogID species ranking under random and geographic validation</dc:subject>
  <dc:creator>STAT5003 W11G03</dc:creator>
  <cp:lastModifiedBy>STAT5003 W11G03</cp:lastModifiedBy>
  <cp:revision>1</cp:revision>
  <dcterms:created xsi:type="dcterms:W3CDTF">2026-10-26T12:31:52Z</dcterms:created>
  <dcterms:modified xsi:type="dcterms:W3CDTF">2026-10-26T12:31:52Z</dcterms:modified>
</cp:coreProperties>
</file>